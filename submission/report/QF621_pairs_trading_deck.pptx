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9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Clustering-Based Pairs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FA8D3"/>
                </a:solidFill>
                <a:latin typeface="Calibri"/>
              </a:defRPr>
            </a:pPr>
            <a:r>
              <a:t>A from-scratch replication &amp; extension of Rotondi &amp; Russo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Headline: matched the paper's best strategy at Sharpe 1.113 (paper: 1.01)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A8D3"/>
                </a:solidFill>
                <a:latin typeface="Calibri"/>
              </a:defRPr>
            </a:pPr>
            <a:r>
              <a:t>Validated on 5 years out-of-sample (2021-2025): Sharpe 0.412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B7B"/>
                </a:solidFill>
                <a:latin typeface="Calibri"/>
              </a:defRPr>
            </a:pPr>
            <a:r>
              <a:t>Built in Python on WRDS/CRSP data  |  ML clustering + statistical-arbitrage signal  |  full rolling-window backtest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D2733"/>
                </a:solidFill>
                <a:latin typeface="Calibri"/>
              </a:defRPr>
            </a:pPr>
            <a:r>
              <a:t>Pairs trading = find two securities whose prices move together, trade the spread when it diverges, profit when it reverts.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D2733"/>
                </a:solidFill>
                <a:latin typeface="Calibri"/>
              </a:defRPr>
            </a:pPr>
            <a:r>
              <a:t>The hard part is pair selection across a 1,000-stock universe: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Brute-forcing all ~500,000 pairs is noisy and overfits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We want pairs that are economically related, not coincidental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D2733"/>
                </a:solidFill>
                <a:latin typeface="Calibri"/>
              </a:defRPr>
            </a:pPr>
            <a:r>
              <a:t>The paper's idea: use unsupervised ML clustering to group similar stocks first, then only form pairs within clusters. Fewer, higher-quality candidates.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5A6B7B"/>
                </a:solidFill>
                <a:latin typeface="Calibri"/>
              </a:defRPr>
            </a:pPr>
            <a:r>
              <a:t>Our goal: rebuild the whole pipeline from the data up, reproduce the published result independently, then extend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Data Spine — Built for Honesty, Not Optics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WRDS / CRSP daily (institutional-grade academic data)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Jan 2000 - Dec 2025 (26 years)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Universe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991 stocks - share codes 10/11 only (US ordinary common)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Survivorship bias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Eliminated - delisted names kept; delisting returns modelled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In-sample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2003-2020 = 215 monthly returns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Out-of-sample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2021-2025 = 59 monthly returns (frozen, no re-tuning)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B7B"/>
                </a:solidFill>
                <a:latin typeface="Calibri"/>
              </a:defRPr>
            </a:pPr>
            <a:r>
              <a:t>First 3 years are reserved purely as the formation window, so every reported return is genuinely out-of-sample.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The Pipeline (Rolling, Monthly)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D2733"/>
                </a:solidFill>
                <a:latin typeface="Courier New"/>
              </a:defRPr>
            </a:pPr>
            <a:r>
              <a:t>CRSP returns</a:t>
            </a:r>
            <a:br/>
            <a:r>
              <a:t>    -&gt; [1] DISTANCE metric (SSD or PC)</a:t>
            </a:r>
            <a:br/>
            <a:r>
              <a:t>    -&gt; [2] OPTICS clustering</a:t>
            </a:r>
            <a:br/>
            <a:r>
              <a:t>         (pairs only within a cluster)</a:t>
            </a:r>
            <a:br/>
            <a:r>
              <a:t>    -&gt; [3] Cointegration filter (optional)</a:t>
            </a:r>
            <a:br/>
            <a:r>
              <a:t>    -&gt; [4] Spread + rolling z-score</a:t>
            </a:r>
            <a:br/>
            <a:r>
              <a:t>    -&gt; [5] Backtest: enter |z|&gt;2, exit z=0, force-close month-end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2733"/>
                </a:solidFill>
                <a:latin typeface="Calibri"/>
              </a:defRPr>
            </a:pPr>
            <a:r>
              <a:t>Each month: form pairs on the trailing 3 years, trade them for the next 1 month, roll forward.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5A6B7B"/>
                </a:solidFill>
                <a:latin typeface="Calibri"/>
              </a:defRPr>
            </a:pPr>
            <a:r>
              <a:t>215 times (in-sample) + 59 times (out-of-sample).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Two Distance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D2733"/>
                </a:solidFill>
                <a:latin typeface="Calibri"/>
              </a:defRPr>
            </a:pPr>
            <a:r>
              <a:t>How do we decide which stocks are "similar" before clustering?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SSD - Sum of Squared Deviations between normalised price paths. Classic baseline (Gatev et al.).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1D2733"/>
                </a:solidFill>
                <a:latin typeface="Calibri"/>
              </a:defRPr>
            </a:pPr>
            <a:r>
              <a:t>PC - Partial-correlation distance on market-adjusted returns. Strips out the common market factor, finds idiosyncratic co-movement. The paper's winning metric.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5A6B7B"/>
                </a:solidFill>
                <a:latin typeface="Calibri"/>
              </a:defRPr>
            </a:pPr>
            <a:r>
              <a:t>Distance feeds the clusterer; the metric choice turns out to be the single biggest driver of risk-adjusted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Clustering with OPTICS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D2733"/>
                </a:solidFill>
                <a:latin typeface="Calibri"/>
              </a:defRPr>
            </a:pPr>
            <a:r>
              <a:t>OPTICS - density-based clustering (cousin of DBSCAN).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No need to pre-specify the number of clusters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Leaves genuinely unrelated stocks unclustered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92608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Ours (SSD)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Ours (PC)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# clusters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48 / 109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Purity vs SIC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0.871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0.937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0.81 / 0.84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GOOG &amp; GOOGL?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B7B"/>
                </a:solidFill>
                <a:latin typeface="Calibri"/>
              </a:defRPr>
            </a:pPr>
            <a:r>
              <a:t>xi hyperparameter tuned on cluster quality on 3 hold-out dates - frozen before ever looking at Sharpe.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Cointegration Filter &amp; Trading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2733"/>
                </a:solidFill>
                <a:latin typeface="Calibri"/>
              </a:defRPr>
            </a:pPr>
            <a:r>
              <a:t>Engle-Granger filter (optional):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Spread rejects unit-root at 5%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Half-life in [5, 60] trading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058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2733"/>
                </a:solidFill>
                <a:latin typeface="Calibri"/>
              </a:defRPr>
            </a:pPr>
            <a:r>
              <a:t>Trading signal: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Hedge ratio via OLS -&gt; spread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- 6-month rolling z-score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Enter when |z| &gt; 2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Exit at z = 0 (reversion)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Force-close at month-end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5A6B7B"/>
                </a:solidFill>
                <a:latin typeface="Calibri"/>
              </a:defRPr>
            </a:pPr>
            <a:r>
              <a:t>  - Strict look-ahead protection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Original Extension: Factor-Beta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D2733"/>
                </a:solidFill>
                <a:latin typeface="Calibri"/>
              </a:defRPr>
            </a:pPr>
            <a:r>
              <a:t>A structurally different similarity metric — cluster by shared risk-factor exposures, not return co-movement.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Ridge-regress each stock's returns on 18 factors (6 FF style + 12 FF industry)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Each stock gets an 18-dimensional beta vector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Distance = standardised Euclidean between beta vectors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Stocks with similar factor loadings cluster together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Sharpe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Paper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1.113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1.01 (match)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Factor-beta core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1.149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original extension, beats PC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Factor + coint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0.969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filter slightly reduces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965"/>
                </a:solidFill>
                <a:latin typeface="Calibri"/>
              </a:defRPr>
            </a:pPr>
            <a:r>
              <a:t>Two independent metrics reaching ~1.0 is strong evidence the edge is real, not a PC-specific artefact.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In-Sample Results (2003-2020, 215 months)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Ann. Ret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Ann. Vol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Sharpe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DD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Factor-beta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4.16%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3.61%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1.149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-3.59%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 core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3.86%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3.46%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1.113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-5.75%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Factor +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0.969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-6.41%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SSD + filter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4.97%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6.37%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0.794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-9.74%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 +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2.79%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3.57%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-5.88%</a:t>
                      </a:r>
                    </a:p>
                  </a:txBody>
                  <a:tcPr anchor="ctr"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SSD core (baseline)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3.48%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5.54%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0.645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-14.31%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2733"/>
                </a:solidFill>
                <a:latin typeface="Calibri"/>
              </a:defRPr>
            </a:pPr>
            <a:r>
              <a:t>Factor-beta core (1.149) beats PC core (1.113) — two independent metrics above 1.1 is strong evidence the edge is real.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5A6B7B"/>
                </a:solidFill>
                <a:latin typeface="Calibri"/>
              </a:defRPr>
            </a:pPr>
            <a:r>
              <a:t>Paper target for PC core: 1.01. Ours: 1.113. Factor-beta: 1.149 (original extension).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Cumulative Returns — All Strategies</a:t>
            </a:r>
          </a:p>
        </p:txBody>
      </p:sp>
      <p:pic>
        <p:nvPicPr>
          <p:cNvPr id="3" name="Picture 2" descr="cumulative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0749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B7B"/>
                </a:solidFill>
                <a:latin typeface="Calibri"/>
              </a:defRPr>
            </a:pPr>
            <a:r>
              <a:t>PC core (dark) is the smoothest compounder. SSD strategies have higher absolute returns but far more volatility.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Why It Works - Diagnosed, Not Assumed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D2733"/>
                </a:solidFill>
                <a:latin typeface="Calibri"/>
              </a:defRPr>
            </a:pPr>
            <a:r>
              <a:t>P&amp;L attribution on the SSD baseline revealed a bimodal pattern: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D2733"/>
                </a:solidFill>
                <a:latin typeface="Calibri"/>
              </a:defRPr>
            </a:pPr>
            <a:r>
              <a:t>  11.4% of trades cleanly revert: +471 bps each -&gt; ALL the profit</a:t>
            </a:r>
          </a:p>
          <a:p>
            <a:pPr algn="l">
              <a:spcBef>
                <a:spcPts val="600"/>
              </a:spcBef>
              <a:defRPr sz="2000" b="1">
                <a:solidFill>
                  <a:srgbClr val="1D2733"/>
                </a:solidFill>
                <a:latin typeface="Calibri"/>
              </a:defRPr>
            </a:pPr>
            <a:r>
              <a:t>  88.4% get force-closed at month-end: -32 bps each -&gt; constant drag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1D2733"/>
                </a:solidFill>
                <a:latin typeface="Calibri"/>
              </a:defRPr>
            </a:pPr>
            <a:r>
              <a:t>Thesis: the job isn't "find a higher Sharpe." It's kill the force-close drag by only trading pairs that actually revert.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B4965"/>
                </a:solidFill>
                <a:latin typeface="Calibri"/>
              </a:defRPr>
            </a:pPr>
            <a:r>
              <a:t>PC distance cut the per-trade force-close drag by 65%.</a:t>
            </a:r>
          </a:p>
        </p:txBody>
      </p:sp>
      <p:pic>
        <p:nvPicPr>
          <p:cNvPr id="4" name="Picture 3" descr="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00400"/>
            <a:ext cx="3200400" cy="14719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P&amp;L Breakdown by Exit Reason</a:t>
            </a:r>
          </a:p>
        </p:txBody>
      </p:sp>
      <p:pic>
        <p:nvPicPr>
          <p:cNvPr id="3" name="Picture 2" descr="pnl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41883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75488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Reversion %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Rev. bps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Force-close %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FC bps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SSD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11.6%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+474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88.1%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-36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 core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8.4%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+346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91.4%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-14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 +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+327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89.7%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-23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SSD + filter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12.3%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+491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-39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965"/>
                </a:solidFill>
                <a:latin typeface="Calibri"/>
              </a:defRPr>
            </a:pPr>
            <a:r>
              <a:t>Key: PC cuts force-close drag from -36 bps (SSD) to -14 bps. The metric's job is selectivity, not prediction.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Year-by-Year Returns — Regime Dependence</a:t>
            </a:r>
          </a:p>
        </p:txBody>
      </p:sp>
      <p:pic>
        <p:nvPicPr>
          <p:cNvPr id="3" name="Picture 2" descr="yearly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8778240" cy="3355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965"/>
                </a:solidFill>
                <a:latin typeface="Calibri"/>
              </a:defRPr>
            </a:pPr>
            <a:r>
              <a:t>Findings: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Best year: 2009 (+28.4%) — GFC dislocation = highest dispersion, most reversions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Calm periods (2013-19): avg +1.6%/yr — the strategy idles, doesn't lose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OOS (2021-25): weak in low-dispersion 2021-22, recovered in 2023 &amp; 2025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- 15/18 IS years positive (83%) — consistent but regime-dependent magnitude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Out-of-Sample Validation (2021-2025)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 Sharpe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OOS Sharpe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OOS Ann. Ret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OOS MDD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Months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 +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0.461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1.31%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-2.98%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 core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1.113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0.412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0.82%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-2.75%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SSD +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-5.52%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Factor + filter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0.969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0.131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0.42%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-6.56%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Factor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1.149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-0.103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-0.29%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-6.99%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062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2733"/>
                </a:solidFill>
                <a:latin typeface="Calibri"/>
              </a:defRPr>
            </a:pPr>
            <a:r>
              <a:t>PC + filter is the best OOS strategy (0.461) — all three filtered strategies stay positive.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700" b="0">
                <a:solidFill>
                  <a:srgbClr val="1D2733"/>
                </a:solidFill>
                <a:latin typeface="Calibri"/>
              </a:defRPr>
            </a:pPr>
            <a:r>
              <a:t>The cointegration filter helps in OOS: it removes pairs that drift apart during the trading window. The filter flips factor-beta from negative (-0.103) to positive (0.131).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1B4965"/>
                </a:solidFill>
                <a:latin typeface="Calibri"/>
              </a:defRPr>
            </a:pPr>
            <a:r>
              <a:t>The honest story: the strategy works, but it is regime-dependent. Performance tracks volatility and dispersion, not calendar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Filtered Strategies — IS vs OOS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Ann. Ret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Ann. Vol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Sharpe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DD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Months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Factor +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IS 2003-2020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0.969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-6.41%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215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SSD + filter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IS 2003-2020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4.97%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6.37%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0.794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-9.74%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215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 +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IS 2003-2020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2.79%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3.57%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-5.88%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215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 + filter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OOS 2021-2025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1.31%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2.92%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0.461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-2.98%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SSD +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OOS 2021-2025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4.01%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-5.52%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/>
                </a:tc>
              </a:tr>
              <a:tr h="496392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Factor + filter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OOS 2021-2025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0.42%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3.77%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0.131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-6.56%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2733"/>
                </a:solidFill>
                <a:latin typeface="Calibri"/>
              </a:defRPr>
            </a:pPr>
            <a:r>
              <a:t>The cointegration filter is required by the project specification. Key findings: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PC + filter is the BEST OOS strategy (0.461) — filter helps PC in OOS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Filter rescues factor-beta OOS: -0.103 (core) -&gt; 0.131 (filtered)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All three filtered strategies stay positive OOS — the filter removes drifting pairs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4965"/>
                </a:solidFill>
                <a:latin typeface="Calibri"/>
              </a:defRPr>
            </a:pPr>
            <a:r>
              <a:t>Cumulative Returns — Filtered Strategies (IS + OOS)</a:t>
            </a:r>
          </a:p>
        </p:txBody>
      </p:sp>
      <p:pic>
        <p:nvPicPr>
          <p:cNvPr id="3" name="Picture 2" descr="cumulative_pnl_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2560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B7B"/>
                </a:solidFill>
                <a:latin typeface="Calibri"/>
              </a:defRPr>
            </a:pPr>
            <a:r>
              <a:t>Solid lines = IS (2003-2020). Dashed lines = OOS (2021-2025). All strategies use the cointegration filter.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4965"/>
                </a:solidFill>
                <a:latin typeface="Calibri"/>
              </a:defRPr>
            </a:pPr>
            <a:r>
              <a:t>Year-by-Year Returns — Filtered Strategies</a:t>
            </a:r>
          </a:p>
        </p:txBody>
      </p:sp>
      <p:pic>
        <p:nvPicPr>
          <p:cNvPr id="3" name="Picture 2" descr="yearly_returns_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8778240" cy="33532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965"/>
                </a:solidFill>
                <a:latin typeface="Calibri"/>
              </a:defRPr>
            </a:pPr>
            <a:r>
              <a:t>Findings: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GFC (2008-09) drives outsized returns for all filtered strategies — dislocation harvesting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Calm years (2013-19): small but mostly positive — the filter keeps the strategy idle, not losing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OOS: all three filtered strategies show positive years in 2023 and 2025 (high-dispersion periods)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4965"/>
                </a:solidFill>
                <a:latin typeface="Calibri"/>
              </a:defRPr>
            </a:pPr>
            <a:r>
              <a:t>P&amp;L Breakdown — Filtered Strategies (IS vs OOS)</a:t>
            </a:r>
          </a:p>
        </p:txBody>
      </p:sp>
      <p:pic>
        <p:nvPicPr>
          <p:cNvPr id="3" name="Picture 2" descr="pnl_breakdown_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0"/>
            <a:ext cx="8961120" cy="3407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965"/>
                </a:solidFill>
                <a:latin typeface="Calibri"/>
              </a:defRPr>
            </a:pPr>
            <a:r>
              <a:t>Filtered strategy diagnostics: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PC+filter: lowest force-close drag among filtered variants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Factor+filter: higher reversion rate but higher per-trade variance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IS vs OOS comparison shows consistency of trade mechanics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What Each Metric Selects — Example Pairs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237744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SSD + filter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PC + filter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Factor + filter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#1 pair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CMS/XEL (utilities)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BK/NTRS (banks)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VZ/T (telecom)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#2 pair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LMT/RTN (defense)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VZ/T (telecom)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ED/SO (utilities)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#3 pair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RF/ZION (banks)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ED/SO (utilities)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WEC/XEL (utilities)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Unique to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MCO/UNH, JPM/GL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TMO/A, FDX/UPS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NKE/YUM, ORCL/QCOM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Total pairs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3,028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1,401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1,673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Total trades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8,143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7,594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4,871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Reversion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12.3%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10.5%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965"/>
                </a:solidFill>
                <a:latin typeface="Calibri"/>
              </a:defRPr>
            </a:pPr>
            <a:r>
              <a:t>Key differences: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SSD casts the widest net (3,028 pairs) — any stocks with similar price paths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PC is the most selective (1,401 pairs) — only idiosyncratic co-movement survives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Factor groups by risk exposure — finds cross-sector pairs like NKE/YUM (consumer beta)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Only 12% of pairs overlap across all three — each metric sees different structure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Pair Selection Overlap Across Metrics</a:t>
            </a:r>
          </a:p>
        </p:txBody>
      </p:sp>
      <p:pic>
        <p:nvPicPr>
          <p:cNvPr id="3" name="Picture 2" descr="pair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247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2733"/>
                </a:solidFill>
                <a:latin typeface="Calibri"/>
              </a:defRPr>
            </a:pPr>
            <a:r>
              <a:t>Each metric captures different market structure: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SSD: 2,414 pairs unique to it — price-path similarity finds many candidates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PC: 604 unique pairs — correlation-based filtering is the strictest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Factor: 903 unique pairs — shared risk exposures find cross-sector relationships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Only 307 pairs are found by all three metrics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How Each Metric Clusters — Sector Composition</a:t>
            </a:r>
          </a:p>
        </p:txBody>
      </p:sp>
      <p:pic>
        <p:nvPicPr>
          <p:cNvPr id="3" name="Picture 2" descr="sector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8778240" cy="35403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206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965"/>
                </a:solidFill>
                <a:latin typeface="Calibri"/>
              </a:defRPr>
            </a:pPr>
            <a:r>
              <a:t>Key difference: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PC is 91% same-sector — it finds idiosyncratic co-movement within industries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SSD is only 57% same-sector — price-path similarity crosses sector boundaries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Factor is 82% same-sector — shared risk factors mostly align with industry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D2733"/>
                </a:solidFill>
                <a:latin typeface="Calibri"/>
              </a:defRPr>
            </a:pPr>
            <a:r>
              <a:t>  - PC's selectivity (fewer, tighter pairs) explains its lower volatility and smoother returns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Biggest Winners &amp; Losers by Metric (IS)</a:t>
            </a:r>
          </a:p>
        </p:txBody>
      </p:sp>
      <p:pic>
        <p:nvPicPr>
          <p:cNvPr id="3" name="Picture 2" descr="top_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0"/>
            <a:ext cx="8961120" cy="40506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965"/>
                </a:solidFill>
                <a:latin typeface="Calibri"/>
              </a:defRPr>
            </a:pPr>
            <a:r>
              <a:t>Pattern: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SSD has the most extreme trades (+64% to -63%) — GFC bank pairs dominate both tails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PC is more controlled (+43% to -40%) — GM/F (pre-bankruptcy) is the worst loss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Factor is the most bounded (+28% to -27%) — fewer tail blowups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Winners mostly revert; losers are almost all force-closes — confirming the bimodal thesis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Biggest Winners &amp; Losers by Metric (OOS)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94560"/>
                <a:gridCol w="1097280"/>
                <a:gridCol w="219456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Return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Loser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Return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BIIB/CNC '21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+24.0%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FRC/EL '23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-61.2%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CHTR/META '22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+20.6%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INTC/WDC '24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-18.6%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SBUX/VRSN '24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+17.2%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VFC/WYNN '22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-18.3%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EW/ZBH '24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+21.5%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GPC/LKQ '25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-13.2%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DOW/CE '24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+12.6%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MU/WDC '25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-12.4%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DOW/CE '25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+11.9%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FISV/FIS '23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-12.3%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BSX/CNC '21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+9.7%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PTC/IT '25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-19.4%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WDC/QCOM '25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+9.6%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INTC/QCOM '21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-15.3%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VFC/MHK '23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+9.2%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NVDA/MPWR '24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-14.9%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9496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965"/>
                </a:solidFill>
                <a:latin typeface="Calibri"/>
              </a:defRPr>
            </a:pPr>
            <a:r>
              <a:t>OOS findings: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SSD's biggest OOS loss: FRC/EL (-61%) — First Republic Bank collapse, Mar 2023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PC has the tightest loss range (-13%) — idiosyncratic selection avoids blow-ups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Factor's biggest loss: NVDA/MPWR — AI momentum broke the factor-beta relationship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Carry-Over: Letting Trades Roll Across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D2733"/>
                </a:solidFill>
                <a:latin typeface="Calibri"/>
              </a:defRPr>
            </a:pPr>
            <a:r>
              <a:t>Instead of force-closing every position at month-end, we allow trades to roll over.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B4965"/>
                </a:solidFill>
                <a:latin typeface="Calibri"/>
              </a:defRPr>
            </a:pPr>
            <a:r>
              <a:t>How it works: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Open position rolls into the next month if the pair is still in the candidate set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Max hold: 3 months (aligned with half-life upper bound of 60 trading days)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Position still exits on reversion (z=0) or at the 3-month cap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B4965"/>
                </a:solidFill>
                <a:latin typeface="Calibri"/>
              </a:defRPr>
            </a:pPr>
            <a:r>
              <a:t>Motivation: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~89% of trades in the baseline are force-closed at month-end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Most of those positions haven't reverted yet — they just need more time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- Force-close drag is the #1 source of lost profit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5A6B7B"/>
                </a:solidFill>
                <a:latin typeface="Calibri"/>
              </a:defRPr>
            </a:pPr>
            <a:r>
              <a:t>All results below use cointegration-filtered strategies with carry_over=True, max_carry_months=3.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Carry-Over Results — IS vs OOS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Ann. Ret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Ann. Vol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Sharpe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DD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Months</a:t>
                      </a:r>
                    </a:p>
                  </a:txBody>
                  <a:tcPr anchor="ctr">
                    <a:solidFill>
                      <a:srgbClr val="1B496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SSD +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IS 2003-2020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4.50%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5.10%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0.889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-8.27%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215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Factor + filter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IS 2003-2020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3.88%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4.54%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0.862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-7.00%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215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 +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IS 2003-2020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-4.57%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215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SSD + filter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OOS 2021-2025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1.70%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3.21%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0.542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-3.55%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PC +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OOS 2021-2025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2.41%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0.183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-3.60%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/>
                </a:tc>
              </a:tr>
              <a:tr h="496392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t>Factor + filter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OOS 2021-2025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-0.23%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3.22%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-0.056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-4.67%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965"/>
                </a:solidFill>
                <a:latin typeface="Calibri"/>
              </a:defRPr>
            </a:pPr>
            <a:r>
              <a:t>Highlights: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SSD + filter is the strongest carry-over strategy: 0.889 IS, 0.542 OOS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Factor + filter IS stays strong (0.862) but turns negative OOS (-0.056)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PC + filter weakens in both IS (0.736) and OOS (0.183)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4965"/>
                </a:solidFill>
                <a:latin typeface="Calibri"/>
              </a:defRPr>
            </a:pPr>
            <a:r>
              <a:t>Cumulative Returns — Carry-Over Strategies (IS + OOS)</a:t>
            </a:r>
          </a:p>
        </p:txBody>
      </p:sp>
      <p:pic>
        <p:nvPicPr>
          <p:cNvPr id="3" name="Picture 2" descr="cumulative_pnl_carry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2560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B7B"/>
                </a:solidFill>
                <a:latin typeface="Calibri"/>
              </a:defRPr>
            </a:pPr>
            <a:r>
              <a:t>Solid lines = IS (2003-2020). Dashed lines = OOS (2021-2025). All with carry_over=True, max 3 months.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4965"/>
                </a:solidFill>
                <a:latin typeface="Calibri"/>
              </a:defRPr>
            </a:pPr>
            <a:r>
              <a:t>Year-by-Year Returns — Carry-Over Strategies</a:t>
            </a:r>
          </a:p>
        </p:txBody>
      </p:sp>
      <p:pic>
        <p:nvPicPr>
          <p:cNvPr id="3" name="Picture 2" descr="yearly_returns_carry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8778240" cy="33532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965"/>
                </a:solidFill>
                <a:latin typeface="Calibri"/>
              </a:defRPr>
            </a:pPr>
            <a:r>
              <a:t>Findings: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SSD + filter carry-over: consistently positive across years, strong in GFC and OOS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More time for reversion smooths out year-to-year variance for SSD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PC and factor show more negative years when trades are held longer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4965"/>
                </a:solidFill>
                <a:latin typeface="Calibri"/>
              </a:defRPr>
            </a:pPr>
            <a:r>
              <a:t>P&amp;L Breakdown — Carry-Over Strategies (IS vs OOS)</a:t>
            </a:r>
          </a:p>
        </p:txBody>
      </p:sp>
      <p:pic>
        <p:nvPicPr>
          <p:cNvPr id="3" name="Picture 2" descr="pnl_breakdown_carry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0"/>
            <a:ext cx="8961120" cy="3407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965"/>
                </a:solidFill>
                <a:latin typeface="Calibri"/>
              </a:defRPr>
            </a:pPr>
            <a:r>
              <a:t>Key change vs force-close: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Higher reversion rate — more trades complete their mean-reversion cycle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Fewer force-closes — the drag that was killing profitability is reduced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D2733"/>
                </a:solidFill>
                <a:latin typeface="Calibri"/>
              </a:defRPr>
            </a:pPr>
            <a:r>
              <a:t>  - Trade-off: trades held longer carry more risk per position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Carry-Over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1B4965"/>
                </a:solidFill>
                <a:latin typeface="Calibri"/>
              </a:defRPr>
            </a:pPr>
            <a:r>
              <a:t>1. SSD + filter benefits most from carry-over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   IS Sharpe 0.889  |  OOS Sharpe 0.542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   SSD selects by price-path shape — when these pairs diverge, they genuinely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   need more time to converge. Giving them 3 months lets the reversion complete.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1B4965"/>
                </a:solidFill>
                <a:latin typeface="Calibri"/>
              </a:defRPr>
            </a:pPr>
            <a:r>
              <a:t>2. PC + filter works better with force-close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   IS Sharpe 0.736  |  OOS Sharpe 0.183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   PC pairs are selected by idiosyncratic correlation — when they haven't reverted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   by month-end, the correlation structure may have shifted. Cutting losses early is better.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1B4965"/>
                </a:solidFill>
                <a:latin typeface="Calibri"/>
              </a:defRPr>
            </a:pPr>
            <a:r>
              <a:t>3. Factor-beta also prefers force-close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   IS Sharpe 0.862  |  OOS Sharpe -0.056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   Factor loadings shift over time — holding amplifies the mismatch.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1B4965"/>
                </a:solidFill>
                <a:latin typeface="Calibri"/>
              </a:defRPr>
            </a:pPr>
            <a:r>
              <a:t>Takeaway: the optimal trade duration depends on the distance metric.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SSD pairs revert slowly (price convergence); PC/factor pairs revert quickly or not at all.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Engineering Rigour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Modular package - distances, clustering, spread, cointegration, backtest, performance, costs, lookahead - each independently unit-tested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- 67 synthetic unit tests across 11 files - validate every component on data with a known answer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- 6/6 lookahead audit PASS - black-box test confirms no future information leakage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Look-ahead protection baked into the z-score and the rolling formation/trading split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Reproducible - config-driven single source of truth; hyperparameters frozen pre-results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1D2733"/>
                </a:solidFill>
                <a:latin typeface="Calibri"/>
              </a:defRPr>
            </a:pPr>
            <a:r>
              <a:t>  - Implementation-correctness review (Phase 6) - audited own code, found and fixed 6 flaws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5A6B7B"/>
                </a:solidFill>
                <a:latin typeface="Calibri"/>
              </a:defRPr>
            </a:pPr>
            <a:r>
              <a:t>Stack: Python, pandas, NumPy, scikit-learn (OPTICS), statsmodels (ADF/OLS), matplotlib, parquet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4965"/>
                </a:solidFill>
                <a:latin typeface="Calibri"/>
              </a:defRPr>
            </a:pPr>
            <a:r>
              <a:t>What This Demonstrates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D2733"/>
                </a:solidFill>
                <a:latin typeface="Calibri"/>
              </a:defRPr>
            </a:pPr>
          </a:p>
          <a:p>
            <a:pPr algn="l">
              <a:spcBef>
                <a:spcPts val="14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Independent replication of a 2025 research paper - read it, rebuilt it, matched the headline number on data we sourced ourselves.</a:t>
            </a:r>
          </a:p>
          <a:p>
            <a:pPr algn="l">
              <a:spcBef>
                <a:spcPts val="14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Honest validation - 5-year OOS test shows the strategy survives but with regime-dependent decay. We report what we found, not what we hoped.</a:t>
            </a:r>
          </a:p>
          <a:p>
            <a:pPr algn="l">
              <a:spcBef>
                <a:spcPts val="14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Quant intuition - diagnosed why the strategy makes money, then engineered the fix.</a:t>
            </a:r>
          </a:p>
          <a:p>
            <a:pPr algn="l">
              <a:spcBef>
                <a:spcPts val="1400"/>
              </a:spcBef>
              <a:defRPr sz="1800" b="0">
                <a:solidFill>
                  <a:srgbClr val="1D2733"/>
                </a:solidFill>
                <a:latin typeface="Calibri"/>
              </a:defRPr>
            </a:pPr>
            <a:r>
              <a:t>  Discipline - survivorship-bias-free data, out-of-sample design, frozen hyperparameters, unit-tested code, implementation-correctness review.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9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FA8D3"/>
                </a:solidFill>
                <a:latin typeface="Calibri"/>
              </a:defRPr>
            </a:pPr>
            <a:r>
              <a:t>Clustering-Based Pairs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IS Sharpe 1.113  |  OOS Sharpe 0.412  |  274 months  |  built from the data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6B7B"/>
                </a:solidFill>
                <a:latin typeface="Calibri"/>
              </a:defRPr>
            </a:pPr>
            <a:r>
              <a:t>Happy to walk through the code, the backtest engine, or the attribution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